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a PS-involved collaboration review, not an MWI-only issue review. The approved thesis is that implementation alone does not complete a customer customization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External does not expose private source mechanics or the intentional firewall rationale. Internal may contain detailed Alcedo R&amp;R and operating side effects.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recap follows the preparation deck requirement. It is not a meeting list; it is the operating model that the events and cases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these as unconditional success claims. Some are conditional strengths: cadence and reference existed, but execution depth and closure still varied.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term collaboration gaps identified on slide. The preparation deck calls for areas for improvement; the neutral title keeps manager-level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events are event-anchored and PS-filtered. The 2024/11 workshop had multiple topics; only topic-specific decisions should be attributed to each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hot-fix is an MWI substream, not a separate post-MP event. SIM Lock counts from different snapshots must be reconciled before external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editable matrix mockup. It directly captures the user-identified issue: default state, carrier enablement, joint development, Alcedo self-contained validation versus Zion device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and verification readiness are related but distinct. Do not merge them into one vague readiness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Alcedo-internal. Do not present firewall rationale or Hsuanchang bottleneck as a Zion criticism.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External content is macro and jointly discussable. It does not expose PKB, Teams, private account policy, or internal source mechanics.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artifacts are the concrete P27/P28 proposal. Measures are proposed adoption measures, not P26 achieved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S14 merged into S13 after rehearsal feedback. This is the workshop action slide and close. Capture actual Zion feedback live; the table currently contains proposed decision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TC50 P26 PS Post-Mortem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406640" y="6473952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Alcedo | Clare / Justin preparation | 10/E Zion workshop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</a:rPr>
              <a:t>P26 PS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</a:rPr>
              <a:t>POST-MORTEM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7E7F2"/>
                </a:solidFill>
              </a:rPr>
              <a:t>From Feature Implementation to Lifecycle Control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337560"/>
            <a:ext cx="4114800" cy="0"/>
          </a:xfrm>
          <a:prstGeom prst="line">
            <a:avLst/>
          </a:prstGeom>
          <a:noFill/>
          <a:ln w="38100">
            <a:solidFill>
              <a:srgbClr val="E27D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657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Review B → P27/P28 Alcedo–Zion collaboration improvement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303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BD9"/>
                </a:solidFill>
              </a:rPr>
              <a:t>Prepared for Clare / Justin | 10/E Zion workshop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review boundary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 PS-involved collaboration review, with customization as the lead lens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362456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IN SCOPE — P26 PS-INVOLVED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" y="1673352"/>
            <a:ext cx="5020056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PS customization and feature governance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AP-IMS / MIPC collaboration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Relay Metrics and interface evolution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ECC/OOS, Call Performance, registration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eSIM/SIM and customer-specific debugging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MWI, release, QPR and long-tail support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E8F5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1362456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TWO VIEWS OF THE SAME EVIDENCE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82512" y="1673352"/>
            <a:ext cx="5020056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EXTERNAL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Joint Alcedo/Zion interface, shared evidence, joint improvement, Zion feedback and commitments.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INTERNAL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Alcedo-only R&amp;R, coverage, access side effects, handoff, escalation, decision and long-tail planning.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Owner context: Hsuanchang = effective PS Lv1 DRI from 2025; Aoss = historical PS Lv1 context.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P26 co-working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Four mechanisms operated across one feature-to-closure lifecycle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4533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1. Feature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" y="1856232"/>
            <a:ext cx="200253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Customization sync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Scope / DRI / validation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0440" y="14173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8F5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5032" y="154533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2. Issue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85032" y="1856232"/>
            <a:ext cx="200253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Coordinator / DRI / 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MWI / CR / customer update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3E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54533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3. Technical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1112" y="1856232"/>
            <a:ext cx="200253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Workshops / deep dives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Logs / RCA / workaround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72600" y="14173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1EC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37192" y="154533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4. Project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37192" y="1856232"/>
            <a:ext cx="200253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Time-zone support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Handoff / release / escalation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840480"/>
            <a:ext cx="1371600" cy="594360"/>
          </a:xfrm>
          <a:prstGeom prst="roundRect">
            <a:avLst>
              <a:gd name="adj" fmla="val 7692"/>
            </a:avLst>
          </a:prstGeom>
          <a:solidFill>
            <a:srgbClr val="DCEAF4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4023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Intake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75688" y="4005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7D35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532888" y="3840480"/>
            <a:ext cx="1371600" cy="594360"/>
          </a:xfrm>
          <a:prstGeom prst="roundRect">
            <a:avLst>
              <a:gd name="adj" fmla="val 7692"/>
            </a:avLst>
          </a:prstGeom>
          <a:solidFill>
            <a:srgbClr val="DCEAF4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4023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Scope + owner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50208" y="4005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7D35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407408" y="3840480"/>
            <a:ext cx="1371600" cy="594360"/>
          </a:xfrm>
          <a:prstGeom prst="roundRect">
            <a:avLst>
              <a:gd name="adj" fmla="val 7692"/>
            </a:avLst>
          </a:prstGeom>
          <a:solidFill>
            <a:srgbClr val="DCEAF4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53128" y="4023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Technical decision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24728" y="4005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7D35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81928" y="3840480"/>
            <a:ext cx="1371600" cy="594360"/>
          </a:xfrm>
          <a:prstGeom prst="roundRect">
            <a:avLst>
              <a:gd name="adj" fmla="val 7692"/>
            </a:avLst>
          </a:prstGeom>
          <a:solidFill>
            <a:srgbClr val="E5F3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4023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Implementation / fix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99248" y="4005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7D35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156448" y="3840480"/>
            <a:ext cx="1371600" cy="594360"/>
          </a:xfrm>
          <a:prstGeom prst="roundRect">
            <a:avLst>
              <a:gd name="adj" fmla="val 7692"/>
            </a:avLst>
          </a:prstGeom>
          <a:solidFill>
            <a:srgbClr val="E5F3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02168" y="4023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573768" y="4005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7D35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030968" y="3840480"/>
            <a:ext cx="1371600" cy="594360"/>
          </a:xfrm>
          <a:prstGeom prst="roundRect">
            <a:avLst>
              <a:gd name="adj" fmla="val 7692"/>
            </a:avLst>
          </a:prstGeom>
          <a:solidFill>
            <a:srgbClr val="E5F3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76688" y="4023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Release + closure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2578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P26 lesson lens: mechanisms existed; the execution bridge was not always explicit.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points to retain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P26 established useful mechanisms — with clear limits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1673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Structured feature alignment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1627632"/>
            <a:ext cx="48371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Scope, interface, DRI, validation and delivery discussion were connected.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31673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Persistent technical enablement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73952" y="1627632"/>
            <a:ext cx="48371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AP-IMS/MIPC Q&amp;A and deep dives built shared vocabulary.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51460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64261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Living shared reference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" y="2953512"/>
            <a:ext cx="48371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Relay Metrics tracked definitions, support type, status and delivery phase.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51460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264261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Execution gates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2953512"/>
            <a:ext cx="48371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MWI cadence, priority classes and release gates made urgency visible.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84048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FF3E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96849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Boundary awareness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" y="4279392"/>
            <a:ext cx="48371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Joint development, customer validation and Alcedo validation were distinguished.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4406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Quantified context (with snapshot labels): 1,200+ metric definitions; 218 MWI items / 111 open on 2026/4/21.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P26 collaboration gaps identified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Neutral system-level observations, not team blame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166360" cy="146304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45389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R&amp;R / routing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1764792"/>
            <a:ext cx="483717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Coordination, technical ownership, access and decision authority can converge on one path.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5166360" cy="1463040"/>
          </a:xfrm>
          <a:prstGeom prst="roundRect">
            <a:avLst>
              <a:gd name="adj" fmla="val 5000"/>
            </a:avLst>
          </a:prstGeom>
          <a:solidFill>
            <a:srgbClr val="FFF3E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45389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Technical coverage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73952" y="1764792"/>
            <a:ext cx="483717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Time-zone relay exists; matching technical peer/RD depth is not always available.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154680"/>
            <a:ext cx="5166360" cy="146304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28269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Lifecycle ownership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" y="3593592"/>
            <a:ext cx="483717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Implementation, validation, release, QPR and retirement can span different owners.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154680"/>
            <a:ext cx="5166360" cy="146304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328269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Cross-module convergence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3593592"/>
            <a:ext cx="483717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Customer scenarios cross AP, Modem, SIM, hardware and network boundaries.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4864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Evidence anchors: MWI / US support, eSIM extra-bytes, SIM Lock, Relay Metrics, QPR handoff.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events: feature-to-lifecycle control formation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Actual workshops and reviews that changed the collaboration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D35"/>
                </a:solidFill>
              </a:rPr>
              <a:t>2023/12–2024/11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48840" y="1307592"/>
            <a:ext cx="502920" cy="0"/>
          </a:xfrm>
          <a:prstGeom prst="line">
            <a:avLst/>
          </a:prstGeom>
          <a:noFill/>
          <a:ln w="25400">
            <a:solidFill>
              <a:srgbClr val="E27D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88920" y="1069848"/>
            <a:ext cx="8641080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53512" y="1197864"/>
            <a:ext cx="8311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AP-IMS evolution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53512" y="1508760"/>
            <a:ext cx="83118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Interface/API enablement → topic-specific decisions and ongoing Q&amp;A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D35"/>
                </a:solidFill>
              </a:rPr>
              <a:t>2024/9/24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48840" y="2450592"/>
            <a:ext cx="502920" cy="0"/>
          </a:xfrm>
          <a:prstGeom prst="line">
            <a:avLst/>
          </a:prstGeom>
          <a:noFill/>
          <a:ln w="25400">
            <a:solidFill>
              <a:srgbClr val="E27D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2212848"/>
            <a:ext cx="8641080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3512" y="2340864"/>
            <a:ext cx="8311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PS customization workshop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53512" y="2651760"/>
            <a:ext cx="83118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Feature scope, interface documents, information boundary, DRI and delivery discussion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D35"/>
                </a:solidFill>
              </a:rPr>
              <a:t>2024–present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48840" y="3593592"/>
            <a:ext cx="502920" cy="0"/>
          </a:xfrm>
          <a:prstGeom prst="line">
            <a:avLst/>
          </a:prstGeom>
          <a:noFill/>
          <a:ln w="25400">
            <a:solidFill>
              <a:srgbClr val="E27D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3355848"/>
            <a:ext cx="8641080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53512" y="3483864"/>
            <a:ext cx="8311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Relay Metrics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53512" y="3794760"/>
            <a:ext cx="83118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Living cross-layer reference; new metrics, support type and delivery phases continue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572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D35"/>
                </a:solidFill>
              </a:rPr>
              <a:t>2024–2025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48840" y="4736592"/>
            <a:ext cx="502920" cy="0"/>
          </a:xfrm>
          <a:prstGeom prst="line">
            <a:avLst/>
          </a:prstGeom>
          <a:noFill/>
          <a:ln w="25400">
            <a:solidFill>
              <a:srgbClr val="E27D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8920" y="4498848"/>
            <a:ext cx="8641080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53512" y="4626864"/>
            <a:ext cx="8311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FLD1/FLD2/Exception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53512" y="4937760"/>
            <a:ext cx="83118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Scope lock, validation categories, technical/commercial boundary, late-request control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Scale indicators: 4-day PS Deep Dive; ~450 metric items in item-level follow-up; 1,200+ living catalogue (not additive).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events: execution, verification and post-MP long-tail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When features met certification, devices, release gates and field support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166360" cy="146304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6245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MWI / ECC-OOS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1673352"/>
            <a:ext cx="483717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High-frequency review, patch, retest and release gates; Call Performance remained less converged.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166360" cy="146304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36245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eSIM extra-bytes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73952" y="1673352"/>
            <a:ext cx="483717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P0 partner-visible issue; 6/8 monitored devices reproduced; environment and circuit readiness gaps surfaced.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5166360" cy="1463040"/>
          </a:xfrm>
          <a:prstGeom prst="roundRect">
            <a:avLst>
              <a:gd name="adj" fmla="val 5000"/>
            </a:avLst>
          </a:prstGeom>
          <a:solidFill>
            <a:srgbClr val="FFF3E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19125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SIM Lock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" y="3502152"/>
            <a:ext cx="483717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Post-MP/in-market GID1 read-back chain connected AP/Modem/NVRAM/eSIM/IMS and QPR.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063240"/>
            <a:ext cx="5166360" cy="146304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319125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QPR / handoff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3502152"/>
            <a:ext cx="483717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P26 workarounds, successor fixes, retirement and continuing support must remain linked.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486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Long-tail = post-MP QPR support + workaround retirement + next-program handoff + continuing product support.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— Feature Verification &amp; Enablement Matrix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 feature is not complete when implementation is complete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Mandatory fields before commitment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611880" cy="621792"/>
          </a:xfrm>
          <a:prstGeom prst="rect">
            <a:avLst/>
          </a:prstGeom>
          <a:solidFill>
            <a:srgbClr val="DCEAF4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73352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</a:rPr>
              <a:t>Feature / carrier-scenario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611880" cy="621792"/>
          </a:xfrm>
          <a:prstGeom prst="rect">
            <a:avLst/>
          </a:prstGeom>
          <a:solidFill>
            <a:srgbClr val="DCEAF4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1673352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</a:rPr>
              <a:t>Default ON/OFF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611880" cy="621792"/>
          </a:xfrm>
          <a:prstGeom prst="rect">
            <a:avLst/>
          </a:prstGeom>
          <a:solidFill>
            <a:srgbClr val="DCEAF4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1312" y="1673352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</a:rPr>
              <a:t>Ownership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12848"/>
            <a:ext cx="3611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42316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Alcedo UT/RDIT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212848"/>
            <a:ext cx="3611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242316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SV/FO + rationale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212848"/>
            <a:ext cx="3611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242316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Zion device 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962656"/>
            <a:ext cx="3611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17296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Acceptance criteria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2962656"/>
            <a:ext cx="3611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2272" y="317296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Release / QPR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2962656"/>
            <a:ext cx="3611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1312" y="317296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Closure owner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416052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E8F5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4288536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Internal action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832" y="4599432"/>
            <a:ext cx="465429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DRI completes matrix; SV/FO reviews “SV not needed” rationale; commitment gate blocks undefined verification.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416052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FF3E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288536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External joint action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82512" y="4599432"/>
            <a:ext cx="465429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Alcedo + Zion confirm carrier/scenario enablement, joint-development boundary, device IT and acceptance owner.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2–3 — Two readiness gates before commitment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People/decision coverage and test/evidence readiness are separate gates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453896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Gate A — Coverage ready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1764792"/>
            <a:ext cx="282549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Primary + backup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MUS daytime peer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HQ/domain owner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Decision authority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Escalation trigger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77640" y="1874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7D35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617720" y="132588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E8F5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1453896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Gate B — Evidence ready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82312" y="1764792"/>
            <a:ext cx="282549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Device / AP / SIM / network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Logs / simulator / circuit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Scenario + pass criteria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Validation owner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Accepted risk if missing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09560" y="1874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7D35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549640" y="13258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3E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14232" y="1453896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Commitment ready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14232" y="1764792"/>
            <a:ext cx="241401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Feature / issue can enter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implementation, certification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or release commitment.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9776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P26 evidence: US-daytime technical-peer gap; postponed rotation; eSIM environment/device/circuit gaps.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7091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Proposed measure: gate completed or management-accepted risk recorded before commitment.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lessons learned / Alcedo optimization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Preserve governance; separate the operating roles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484632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Keep the intentional partner-account firewall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Separate access coordination from technical ownership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Define primary / backup / coordinator routing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Make MUS triage vs HQ/RD fix ownership explicit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Assign cross-module convergence owner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Maintain seven-year long-tail planning internally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80760" y="132588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45352" y="145389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Internal operating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45352" y="1764792"/>
            <a:ext cx="474573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Coverage &amp; Routing Matrix + Feature Verification Matrix are phase-gated artifacts.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278892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E8F5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45352" y="291693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Manager decision boundary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45352" y="3227832"/>
            <a:ext cx="474573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Technical feasibility ≠ delivery commitment. SV/FO decision ≠ customer system acceptance.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42519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3E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437997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Measure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45352" y="4690872"/>
            <a:ext cx="474573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Primary/backup named before execution peak; handoff retains scenario, evidence, next action and release/QPR disposition.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lessons learned / joint optimization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 shared contract at the Alcedo–Zion interface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49808" y="1170432"/>
            <a:ext cx="228600" cy="228600"/>
          </a:xfrm>
          <a:prstGeom prst="ellipse">
            <a:avLst/>
          </a:prstGeom>
          <a:solidFill>
            <a:srgbClr val="E27D35"/>
          </a:solidFill>
          <a:ln w="12700">
            <a:solidFill>
              <a:srgbClr val="E27D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1430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</a:rPr>
              <a:t>Default ON/OFF and carrier/scenario scope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228600" cy="228600"/>
          </a:xfrm>
          <a:prstGeom prst="ellipse">
            <a:avLst/>
          </a:prstGeom>
          <a:solidFill>
            <a:srgbClr val="E27D35"/>
          </a:solidFill>
          <a:ln w="12700">
            <a:solidFill>
              <a:srgbClr val="E27D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013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</a:rPr>
              <a:t>Alcedo self-contained vs joint development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" y="2487168"/>
            <a:ext cx="228600" cy="228600"/>
          </a:xfrm>
          <a:prstGeom prst="ellipse">
            <a:avLst/>
          </a:prstGeom>
          <a:solidFill>
            <a:srgbClr val="E27D35"/>
          </a:solidFill>
          <a:ln w="12700">
            <a:solidFill>
              <a:srgbClr val="E27D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45973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</a:rPr>
              <a:t>Alcedo validation vs Zion device/system 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3145536"/>
            <a:ext cx="228600" cy="228600"/>
          </a:xfrm>
          <a:prstGeom prst="ellipse">
            <a:avLst/>
          </a:prstGeom>
          <a:solidFill>
            <a:srgbClr val="E27D35"/>
          </a:solidFill>
          <a:ln w="12700">
            <a:solidFill>
              <a:srgbClr val="E27D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18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</a:rPr>
              <a:t>Customer-time technical counterpart + backup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" y="3803904"/>
            <a:ext cx="228600" cy="228600"/>
          </a:xfrm>
          <a:prstGeom prst="ellipse">
            <a:avLst/>
          </a:prstGeom>
          <a:solidFill>
            <a:srgbClr val="E27D35"/>
          </a:solidFill>
          <a:ln w="12700">
            <a:solidFill>
              <a:srgbClr val="E27D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7764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</a:rPr>
              <a:t>Required device/log/test assets and acceptance criteria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4462272"/>
            <a:ext cx="228600" cy="228600"/>
          </a:xfrm>
          <a:prstGeom prst="ellipse">
            <a:avLst/>
          </a:prstGeom>
          <a:solidFill>
            <a:srgbClr val="E27D35"/>
          </a:solidFill>
          <a:ln w="12700">
            <a:solidFill>
              <a:srgbClr val="E27D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4348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</a:rPr>
              <a:t>QPR / next-program disposition for living items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440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Workshop sequence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23160" y="5422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A8A"/>
                </a:solidFill>
              </a:rPr>
              <a:t>Shared evidence  →  Joint improvement  →  Zion feedback / commitment  →  Action items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P27/P28 proposed operating artifacts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Four prioritized artifacts — proposals, not yet implemented capabilities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594360" cy="566928"/>
          </a:xfrm>
          <a:prstGeom prst="roundRect">
            <a:avLst>
              <a:gd name="adj" fmla="val 6452"/>
            </a:avLst>
          </a:prstGeom>
          <a:solidFill>
            <a:srgbClr val="E27D35"/>
          </a:solidFill>
          <a:ln w="12700">
            <a:solidFill>
              <a:srgbClr val="E27D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3040" y="1051560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FFF3E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7632" y="1179576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Feature Verification &amp; Enablement Matrix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27632" y="1490472"/>
            <a:ext cx="451713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Closes enablement / validation ambiguity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29400" y="124358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Complete before feature commitment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130552"/>
            <a:ext cx="594360" cy="566928"/>
          </a:xfrm>
          <a:prstGeom prst="roundRect">
            <a:avLst>
              <a:gd name="adj" fmla="val 6452"/>
            </a:avLst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1343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63040" y="2130552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27632" y="2258568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Coverage &amp; Routing Matrix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27632" y="2569464"/>
            <a:ext cx="451713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Closes technical-peer / decision coverage gap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232257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Ready before execution peak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209544"/>
            <a:ext cx="594360" cy="566928"/>
          </a:xfrm>
          <a:prstGeom prst="roundRect">
            <a:avLst>
              <a:gd name="adj" fmla="val 6452"/>
            </a:avLst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9242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63040" y="3209544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27632" y="3337560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Joint Verification Readiness Gate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27632" y="3648456"/>
            <a:ext cx="451713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Closes late discovery of missing assets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34015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Gate complete or risk accepted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288536"/>
            <a:ext cx="594360" cy="566928"/>
          </a:xfrm>
          <a:prstGeom prst="roundRect">
            <a:avLst>
              <a:gd name="adj" fmla="val 6452"/>
            </a:avLst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4714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463040" y="4288536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27632" y="4416552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Carry-forward / Long-tail Register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27632" y="4727448"/>
            <a:ext cx="451713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Closes QPR / workaround handoff loss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44805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Owner + retirement status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559612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Proposed adoption measures: completion before commitment; named primary/backup; readiness gate disposition; carry-forward owner/retirement status.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 workshop decisions and action register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What we need to align for P27/P28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423160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075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 / input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0" y="1143000"/>
            <a:ext cx="2423160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13075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Zion choice / feedback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49240" y="1143000"/>
            <a:ext cx="2011680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3075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Alcedo owner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60920" y="1143000"/>
            <a:ext cx="2011680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13075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Zion owner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372600" y="1143000"/>
            <a:ext cx="2240280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0" y="13075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 / dependency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1645920"/>
            <a:ext cx="2423160" cy="68580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190195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Adopt four-artifact model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1645920"/>
            <a:ext cx="2423160" cy="68580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0944" y="190195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Accept / modify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1645920"/>
            <a:ext cx="2011680" cy="68580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04104" y="19019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PS Lv1 + PM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60920" y="1645920"/>
            <a:ext cx="2011680" cy="68580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15784" y="19019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Zion PS lead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372600" y="1645920"/>
            <a:ext cx="2240280" cy="68580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27464" y="1901952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P27/P28 planning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2331720"/>
            <a:ext cx="2423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" y="258775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Feature verification boundary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080" y="2331720"/>
            <a:ext cx="2423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80944" y="258775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Confirm device IT scope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49240" y="2331720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04104" y="25877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Feature DRI / SV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60920" y="2331720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15784" y="25877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Zion feature DRI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72600" y="2331720"/>
            <a:ext cx="2240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27464" y="2587752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Before commitment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3017520"/>
            <a:ext cx="2423160" cy="68580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" y="327355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Customer-time counterpart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0" y="3017520"/>
            <a:ext cx="2423160" cy="68580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80944" y="327355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Nominate primary/backup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49240" y="3017520"/>
            <a:ext cx="2011680" cy="68580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04104" y="32735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MUS / HQ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60920" y="3017520"/>
            <a:ext cx="2011680" cy="68580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15784" y="32735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Zion US TL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372600" y="3017520"/>
            <a:ext cx="2240280" cy="68580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27464" y="3273552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Before execution peak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3703320"/>
            <a:ext cx="2423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" y="395935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Readiness gate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26080" y="3703320"/>
            <a:ext cx="2423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80944" y="395935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Agree participation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49240" y="3703320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04104" y="39593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Alcedo PM / DRI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60920" y="3703320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15784" y="39593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Zion validation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372600" y="3703320"/>
            <a:ext cx="2240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27464" y="3959352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Before high-risk test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5800" y="493776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Closing takeaway: retain P26 collaboration forums; add explicit feature-to-lifecycle control in P27/P28.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731520" y="55778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Open questions and commitments to be completed in the workshop.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MediaTek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P26 PS Post-Mortem: Feature-to-Lifecycle Control</dc:title>
  <dc:subject>TC50 P26 PS Post-Mortem</dc:subject>
  <dc:creator>Alcedo PS</dc:creator>
  <cp:lastModifiedBy>Alcedo PS</cp:lastModifiedBy>
  <cp:revision>1</cp:revision>
  <dcterms:created xsi:type="dcterms:W3CDTF">2026-10-05T01:22:16Z</dcterms:created>
  <dcterms:modified xsi:type="dcterms:W3CDTF">2026-10-05T01:22:16Z</dcterms:modified>
</cp:coreProperties>
</file>